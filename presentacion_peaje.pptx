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F8"/>
                </a:solidFill>
                <a:latin typeface="Segoe UI"/>
              </a:rPr>
              <a:t>MODELO, SIMULACIÓN Y TEORÍA DE LA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Estudio de 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C842"/>
                </a:solidFill>
                <a:latin typeface="Segoe UI"/>
              </a:rPr>
              <a:t>Sistema de Peaje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B4F8"/>
                </a:solidFill>
                <a:latin typeface="Segoe UI"/>
              </a:rPr>
              <a:t>Simulación de Colas con SimPy  ·  Análisis Económico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3566160" cy="13716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Segoe UI"/>
              </a:rPr>
              <a:t>MATERIA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Modelo, Simulación y
Teoría de la Decisión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3749039"/>
            <a:ext cx="3566160" cy="13716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Segoe UI"/>
              </a:rPr>
              <a:t>INTEGRANTES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4160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Valentino Aimale
Martin López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8" y="3749039"/>
            <a:ext cx="3566160" cy="13716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8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Segoe UI"/>
              </a:rPr>
              <a:t>PROFESORES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8" y="4160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Esteban Gidekel
Gastón Lezcano · Guido Mehaudy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C842"/>
                </a:solidFill>
                <a:latin typeface="Segoe UI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8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F8"/>
                </a:solidFill>
                <a:latin typeface="Segoe UI"/>
              </a:rPr>
              <a:t>Autovía Olavarría – Azul  ·  Sistema de cobro de peaje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14630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· 2 estaciones: A (Ascendente) y D (Descendente)
· 3 cabinas por estación, solo 1 abierta todo el día
· 2 cabinas de 7–9h en A y 19–20h en D
· 4 tipos de vehículos con distribuciones distintas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5394960" cy="155448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TIEMPOS DE SERVICIO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· Gran porte: Uniforme(45, 55) seg
· Grandes / Motos: Exponencial (media = 30 seg)
· Pequeños: Triangular (mín=15, moda=20, máx=35 seg)
· Ambulancias / Policía: paso libre fuera de cola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760720" cy="315468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25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LA PREGUNTA CENTRAL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6"/>
                </a:solidFill>
                <a:latin typeface="Segoe UI"/>
              </a:rPr>
              <a:t>La 3ra cabina cuesta $100 cada 10 minutos habilitarla.
Solo puede abrirse en bloques mínimos de 10 minutos.
¿Cuánto tiene que costar la multa por espera &gt; 3 minutos
para que al concesionario le convenga abrir la 3ra cabina?
Demostrar con 95% de confianza.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B5BD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28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C842"/>
                </a:solidFill>
                <a:latin typeface="Segoe UI"/>
              </a:rPr>
              <a:t>Supuesto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28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F8"/>
                </a:solidFill>
                <a:latin typeface="Segoe UI"/>
              </a:rPr>
              <a:t>¿Por qué los intervalos de llegada se duplicaron?  ·  U = Σ(λᵢ × E[Sᵢ]) / 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13716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FACTOR DE UTILIZACIÓN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U mide qué fracción del tiempo están ocupados los servidores.
U &lt; 1  →  sistema estable (la cola se drena)
U ≥ 1  →  sistema explosivo (la cola crece sin límite)
λᵢ = llegadas tipo i (veh/seg)  ·  E[Sᵢ] = servicio medio (seg)  ·  c = cabinas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5394960" cy="201168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CÁLCULO CON TASAS ORIGINALES DEL ENUNCIADO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No pico · c = 1:
(1/60)×50 + (1/70)×30 + (1/40)×23.33 + (1/380)×30
= 0.833 + 0.429 + 0.583 + 0.079  →  U = 1.924 / 1 = 1.92  ✗
Pico · c = 2:
(1/30)×50 + (1/40)×30 + (1/25)×23.33 + (1/380)×30
= 1.667 + 0.750 + 0.933 + 0.079  →  U = 3.429 / 2 = 1.71  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2194560" cy="3474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2252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Escenario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188720"/>
            <a:ext cx="731520" cy="3474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252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Cabinas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188720"/>
            <a:ext cx="640080" cy="3474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2252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1188720"/>
            <a:ext cx="1051560" cy="3474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22529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Estado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536192"/>
            <a:ext cx="219456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5819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Original · no pico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536192"/>
            <a:ext cx="73152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5819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536192"/>
            <a:ext cx="64008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5819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Segoe UI"/>
              </a:rPr>
              <a:t>1.92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536192"/>
            <a:ext cx="105156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5819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Segoe UI"/>
              </a:rPr>
              <a:t>Explosivo 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883664"/>
            <a:ext cx="219456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9293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Original · pico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1883664"/>
            <a:ext cx="73152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92938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883664"/>
            <a:ext cx="64008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93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Segoe UI"/>
              </a:rPr>
              <a:t>1.71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1883664"/>
            <a:ext cx="105156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192938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Segoe UI"/>
              </a:rPr>
              <a:t>Explosivo 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231136"/>
            <a:ext cx="219456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2768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Original · pico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2231136"/>
            <a:ext cx="73152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2768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2231136"/>
            <a:ext cx="64008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27685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Segoe UI"/>
              </a:rPr>
              <a:t>1.14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2231136"/>
            <a:ext cx="1051560" cy="34747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227685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Segoe UI"/>
              </a:rPr>
              <a:t>Explosivo 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578608"/>
            <a:ext cx="219456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2624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Segoe UI"/>
              </a:rPr>
              <a:t>50/50 · no pico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2578608"/>
            <a:ext cx="73152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26243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Segoe U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2578608"/>
            <a:ext cx="64008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8280" y="26243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DB7C"/>
                </a:solidFill>
                <a:latin typeface="Segoe UI"/>
              </a:rPr>
              <a:t>0.96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38360" y="2578608"/>
            <a:ext cx="105156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2624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DB7C"/>
                </a:solidFill>
                <a:latin typeface="Segoe UI"/>
              </a:rPr>
              <a:t>Estable 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2926080"/>
            <a:ext cx="219456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29718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Segoe UI"/>
              </a:rPr>
              <a:t>50/50 · pico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2926080"/>
            <a:ext cx="73152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29718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Segoe UI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52560" y="2926080"/>
            <a:ext cx="64008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9718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DB7C"/>
                </a:solidFill>
                <a:latin typeface="Segoe UI"/>
              </a:rPr>
              <a:t>0.86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38360" y="2926080"/>
            <a:ext cx="105156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29718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DB7C"/>
                </a:solidFill>
                <a:latin typeface="Segoe UI"/>
              </a:rPr>
              <a:t>Estable 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3273552"/>
            <a:ext cx="219456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60" y="33192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Segoe UI"/>
              </a:rPr>
              <a:t>50/50 · pico + 3ra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20" y="3273552"/>
            <a:ext cx="73152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33192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842"/>
                </a:solidFill>
                <a:latin typeface="Segoe UI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3273552"/>
            <a:ext cx="64008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33192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DB7C"/>
                </a:solidFill>
                <a:latin typeface="Segoe UI"/>
              </a:rPr>
              <a:t>0.57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38360" y="3273552"/>
            <a:ext cx="1051560" cy="347472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0" y="331927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9DB7C"/>
                </a:solidFill>
                <a:latin typeface="Segoe UI"/>
              </a:rPr>
              <a:t>Estable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3657600"/>
            <a:ext cx="5760720" cy="105156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3794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DISTRIBUCIÓN DEL TRÁFICO (SUPUESTO 50/50)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4069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La autovía es bidireccional. Con reparto 50/50 cada estación recibe
la mitad del flujo → el intervalo entre llegadas se duplica.
Sin este ajuste U &gt; 1 en todos los casos: simulación inválida.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B5BD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Funciones del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228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C842"/>
                </a:solidFill>
                <a:latin typeface="Segoe UI"/>
              </a:rPr>
              <a:t>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F8"/>
                </a:solidFill>
                <a:latin typeface="Segoe UI"/>
              </a:rPr>
              <a:t>Arquitectura de la simulación en SimPy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miley Face 6"/>
          <p:cNvSpPr/>
          <p:nvPr/>
        </p:nvSpPr>
        <p:spPr>
          <a:xfrm>
            <a:off x="502920" y="1325880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PeajeConfig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Diccionario con intervalos de llegada (seg) por tipo de vehículo y estado (pico/no pico).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188720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miley Face 10"/>
          <p:cNvSpPr/>
          <p:nvPr/>
        </p:nvSpPr>
        <p:spPr>
          <a:xfrm>
            <a:off x="4343399" y="1325880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19" y="1353312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tiempo_servicio()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6916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Genera segundos de atención según la distribución: Uniforme, Exponencial o Triangular.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1188720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miley Face 14"/>
          <p:cNvSpPr/>
          <p:nvPr/>
        </p:nvSpPr>
        <p:spPr>
          <a:xfrm>
            <a:off x="8183878" y="1325880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8" y="1353312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Estacion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8" y="16916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Clase que modela cada peaje: 3 cabinas como recursos SimPy y estado de cabinas activas.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76272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miley Face 18"/>
          <p:cNvSpPr/>
          <p:nvPr/>
        </p:nvSpPr>
        <p:spPr>
          <a:xfrm>
            <a:off x="502920" y="2313432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40864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gestor_horario_base()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919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Proceso que ajusta cuántas cabinas base están abiertas según la hora (1 normal, 2 en pico).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39" y="2176272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miley Face 22"/>
          <p:cNvSpPr/>
          <p:nvPr/>
        </p:nvSpPr>
        <p:spPr>
          <a:xfrm>
            <a:off x="4343399" y="2313432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19" y="2340864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supervisor_dinamico()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267919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Cada 10 min calcula la espera media. Si supera 3 min abre la 3ra cabina y registra $100.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8" y="2176272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miley Face 26"/>
          <p:cNvSpPr/>
          <p:nvPr/>
        </p:nvSpPr>
        <p:spPr>
          <a:xfrm>
            <a:off x="8183878" y="2313432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8" y="2340864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generador_vehiculos()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8" y="267919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Genera vehículos con llegadas exponenciales. 4 generadores en paralelo por estación.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63824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miley Face 30"/>
          <p:cNvSpPr/>
          <p:nvPr/>
        </p:nvSpPr>
        <p:spPr>
          <a:xfrm>
            <a:off x="502920" y="3300984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328416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vehiculo()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66674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El vehículo elige la cabina con menor cola, espera, registra su espera y se atiende.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3163824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miley Face 34"/>
          <p:cNvSpPr/>
          <p:nvPr/>
        </p:nvSpPr>
        <p:spPr>
          <a:xfrm>
            <a:off x="4343399" y="3300984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19" y="3328416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correr_simulacion()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399" y="366674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Construye el entorno, lanza todos los procesos y ejecuta 24hs. Devuelve multados y costos.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8" y="3163824"/>
            <a:ext cx="3749039" cy="91440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miley Face 38"/>
          <p:cNvSpPr/>
          <p:nvPr/>
        </p:nvSpPr>
        <p:spPr>
          <a:xfrm>
            <a:off x="8183878" y="3300984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798" y="3328416"/>
            <a:ext cx="3017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main()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8" y="366674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Corre 30 réplicas, calcula medias, IC al 95% con t de Student y la multa de equilibrio.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B5BD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Los 5 Pasos 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C842"/>
                </a:solidFill>
                <a:latin typeface="Segoe UI"/>
              </a:rPr>
              <a:t>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F8"/>
                </a:solidFill>
                <a:latin typeface="Segoe UI"/>
              </a:rPr>
              <a:t>Cómo se aplican en esta simulación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005840" cy="77724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B4C"/>
                </a:solidFill>
                <a:latin typeface="Segoe UI"/>
              </a:rPr>
              <a:t>PASO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188720"/>
            <a:ext cx="10332720" cy="7772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Construir el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361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Clases Estacion, procesos gestor_horario_base, supervisor_dinamico, generador_vehiculos y vehiculo. Se definen entidades, recursos, lógica de colas y condiciones de apertura de cabinas.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1005840" cy="77724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414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PASO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212848"/>
            <a:ext cx="10332720" cy="7772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Generar Números Aleatorios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5603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El módulo random de Python genera U(0,1) internamente en cada llamada a random.expovariate(), random.uniform() y random.triangular().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36976"/>
            <a:ext cx="1005840" cy="77724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65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PASO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236976"/>
            <a:ext cx="10332720" cy="7772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Transformar en Entradas Válidas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5844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Los U(0,1) se convierten en tiempos con las distribuciones reales: Uniforme(45,55) · Exponencial(λ=1/30) · Triangular(15,20,35) · llegadas Exponencial(λ=1/tasa).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61104"/>
            <a:ext cx="1005840" cy="77724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4897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PASO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4261104"/>
            <a:ext cx="10332720" cy="7772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334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Ejecutar el 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0857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env.run(until=86400) procesa 24hs de simulación. Cada vehículo llega, espera, se atiende y registra su espera. Se repite 30 veces por escenario.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85232"/>
            <a:ext cx="1005840" cy="77724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138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PASO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285232"/>
            <a:ext cx="10332720" cy="7772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58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Contabilidad y Estadística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63270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Se cuentan vehículos con espera &gt; 3 min. Con las 30 réplicas se calcula media, IC al 95% (t de Student, df=29) y la multa de equilibrio.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B5BD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Semilla para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C842"/>
                </a:solidFill>
                <a:latin typeface="Segoe UI"/>
              </a:rPr>
              <a:t>Reproducibilidad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F8"/>
                </a:solidFill>
                <a:latin typeface="Segoe UI"/>
              </a:rPr>
              <a:t>Control de la generación de números aleatorios  ·  random.seed()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12344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¿QUÉ ES LA SEMILLA?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El módulo random genera una secuencia de U(0,1) a partir de un valor inicial llamado semilla. La misma semilla siempre produce la misma secuencia, sin importar qué distribución la consuma (exponencial, uniforme, triangular).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5394960" cy="2148840"/>
          </a:xfrm>
          <a:prstGeom prst="rect">
            <a:avLst/>
          </a:prstGeom>
          <a:solidFill>
            <a:srgbClr val="0A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842"/>
                </a:solidFill>
                <a:latin typeface="Segoe UI"/>
              </a:rPr>
              <a:t>IMPLEMENTACIÓN EN EL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B4F8"/>
                </a:solidFill>
                <a:latin typeface="Segoe UI"/>
              </a:rPr>
              <a:t>for i in range(n_replicas):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B4F8"/>
                </a:solidFill>
                <a:latin typeface="Segoe UI"/>
              </a:rPr>
              <a:t>    random.seed(i)   # semilla para escenario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1985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B4F8"/>
                </a:solidFill>
                <a:latin typeface="Segoe UI"/>
              </a:rPr>
              <a:t>    m_base, _ = correr_simulacion(False)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6674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B4F8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1363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B4F8"/>
                </a:solidFill>
                <a:latin typeface="Segoe UI"/>
              </a:rPr>
              <a:t>    random.seed(i)   # misma semilla para dinámico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B4F8"/>
                </a:solidFill>
                <a:latin typeface="Segoe UI"/>
              </a:rPr>
              <a:t>    m_din, c_din = correr_simulacion(True)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188720"/>
            <a:ext cx="5760720" cy="117043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miley Face 17"/>
          <p:cNvSpPr/>
          <p:nvPr/>
        </p:nvSpPr>
        <p:spPr>
          <a:xfrm>
            <a:off x="6172200" y="1325880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353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Reproducibilidad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91640"/>
            <a:ext cx="5486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Dos corridas distintas del programa producen exactamente los mismos resultados. Permite verificar y compartir resultados sin ambigüedad.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468880"/>
            <a:ext cx="5760720" cy="117043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miley Face 21"/>
          <p:cNvSpPr/>
          <p:nvPr/>
        </p:nvSpPr>
        <p:spPr>
          <a:xfrm>
            <a:off x="6172200" y="2606040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Comparación justa entre escenarios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5486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Al usar la misma semilla i para el escenario base y el dinámico en cada réplica, ambos reciben la misma secuencia de eventos. La diferencia se debe solo al escenario.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49040"/>
            <a:ext cx="5760720" cy="1170432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miley Face 25"/>
          <p:cNvSpPr/>
          <p:nvPr/>
        </p:nvSpPr>
        <p:spPr>
          <a:xfrm>
            <a:off x="6172200" y="3886200"/>
            <a:ext cx="411480" cy="411480"/>
          </a:xfrm>
          <a:prstGeom prst="smileyFac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13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Segoe UI"/>
              </a:rPr>
              <a:t>Reducción de varianza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251960"/>
            <a:ext cx="5486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Comparar con los mismos números aleatorios reduce las diferencias entre réplicas, haciendo los intervalos de confianza más precisos.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B5BD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C842"/>
                </a:solidFill>
                <a:latin typeface="Segoe U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 y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F8"/>
                </a:solidFill>
                <a:latin typeface="Segoe UI"/>
              </a:rPr>
              <a:t>30 réplicas  ·  semilla = i por réplica  ·  IC 95% con t de Student (df = 29)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14630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  <a:latin typeface="Segoe UI"/>
              </a:rPr>
              <a:t>ESCENARIO BASE (sin 3ra cabina)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  <a:latin typeface="Segoe UI"/>
              </a:rPr>
              <a:t>3.044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vehículos/día &gt; 3 min
IC 95%: (2.865 – 3.223)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1188720"/>
            <a:ext cx="3749039" cy="14630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26187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  <a:latin typeface="Segoe UI"/>
              </a:rPr>
              <a:t>ESCENARIO DINÁMICO (con 3ra cabina)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5544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  <a:latin typeface="Segoe UI"/>
              </a:rPr>
              <a:t>1.073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20574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vehículos/día &gt; 3 min
IC 95%: (1.034 – 1.112)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8" y="1188720"/>
            <a:ext cx="3749039" cy="146304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8" y="126187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B4F8"/>
                </a:solidFill>
                <a:latin typeface="Segoe UI"/>
              </a:rPr>
              <a:t>COSTO EXTRA POR ABRIR 3RA CABINA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8" y="155448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  <a:latin typeface="Segoe UI"/>
              </a:rPr>
              <a:t>$4.693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8" y="20574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6"/>
                </a:solidFill>
                <a:latin typeface="Segoe UI"/>
              </a:rPr>
              <a:t>promedio diario
bloques de $100 / 10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11430000" cy="502920"/>
          </a:xfrm>
          <a:prstGeom prst="rect">
            <a:avLst/>
          </a:prstGeom>
          <a:solidFill>
            <a:srgbClr val="0A1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842"/>
                </a:solidFill>
                <a:latin typeface="Segoe UI"/>
              </a:rPr>
              <a:t>Multa de equilibrio  =  Costo cabina / Vehículos salvados  =  $4.693 / 1.971  =  $2,38 por vehículo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29000"/>
            <a:ext cx="5669280" cy="2560320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02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DB7C"/>
                </a:solidFill>
                <a:latin typeface="Segoe UI"/>
              </a:rPr>
              <a:t>RESPUESTA AL 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9DB7C"/>
                </a:solidFill>
                <a:latin typeface="Segoe UI"/>
              </a:rPr>
              <a:t>$2,38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F6"/>
                </a:solidFill>
                <a:latin typeface="Segoe UI"/>
              </a:rPr>
              <a:t>Si la multa &gt; $2,38  →  conviene abrir la 3ra cabina.
Si la multa &lt; $2,38  →  es más barato pagar las multas.
Los IC no se superponen → diferencia significativa al 95%.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429000"/>
            <a:ext cx="5577840" cy="2560320"/>
          </a:xfrm>
          <a:prstGeom prst="rect">
            <a:avLst/>
          </a:prstGeom>
          <a:solidFill>
            <a:srgbClr val="1E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021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B4F8"/>
                </a:solidFill>
                <a:latin typeface="Segoe UI"/>
              </a:rPr>
              <a:t>INTERPRETACIÓN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6"/>
                </a:solidFill>
                <a:latin typeface="Segoe UI"/>
              </a:rPr>
              <a:t>La 3ra cabina salva ~1.971 vehículos/día de exceder los 3 minutos.
El costo de abrirla es ~$4.693/día.
Con una multa de $2,38/vehículo, ambas opciones cuestan lo mismo.
Por encima de ese valor, la cabina extra se paga sola.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B5BD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